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56" y="2195512"/>
            <a:ext cx="4493418" cy="2466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2175718"/>
            <a:ext cx="876300" cy="52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2909143"/>
            <a:ext cx="6383297" cy="853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b="1" sz="2850" i="0" u="none">
                <a:solidFill>
                  <a:srgbClr val="0B2545"/>
                </a:solidFill>
                <a:latin typeface="Poppins"/>
              </a:rPr>
              <a:t>Social Media Strategy &amp;</a:t>
            </a:r>
            <a:r>
              <a:t>
</a:t>
            </a:r>
            <a:r>
              <a:rPr b="1" sz="2850" i="0" u="none">
                <a:solidFill>
                  <a:srgbClr val="C59B27"/>
                </a:solidFill>
                <a:latin typeface="Poppins"/>
              </a:rPr>
              <a:t>Digital Growth</a:t>
            </a:r>
            <a:r>
              <a:rPr b="1" sz="2850" i="0" u="none">
                <a:solidFill>
                  <a:srgbClr val="0B2545"/>
                </a:solidFill>
                <a:latin typeface="Poppins"/>
              </a:rPr>
              <a:t>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3763119"/>
            <a:ext cx="6079331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Comprehensive evaluation of audience engagement, content lifecycle architecture, and brand scaling strategies executed at Foküszy.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7825" y="2247155"/>
            <a:ext cx="33956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B2545"/>
                </a:solidFill>
                <a:latin typeface="Lato"/>
              </a:rPr>
              <a:t>IILM University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Lato SemiBold"/>
              </a:rPr>
              <a:t>School of Management &amp; Business Studies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415581"/>
            <a:ext cx="16478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0" y="4415581"/>
            <a:ext cx="14668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0118" y="2414587"/>
            <a:ext cx="2745581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 Student Name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0B2545"/>
                </a:solidFill>
                <a:latin typeface="Lato"/>
              </a:rPr>
              <a:t>Akshit Bhatt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4731" y="2662237"/>
            <a:ext cx="3940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043" y="2786062"/>
            <a:ext cx="2583656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 Enrollment No.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0B2545"/>
                </a:solidFill>
                <a:latin typeface="Lato"/>
              </a:rPr>
              <a:t>IILM/UG/2024/0842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4731" y="3033712"/>
            <a:ext cx="3940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6331" y="3157537"/>
            <a:ext cx="2569368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 Program &amp; Sem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0B2545"/>
                </a:solidFill>
                <a:latin typeface="Lato"/>
              </a:rPr>
              <a:t>BBA / MBA - Semester 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4731" y="3405187"/>
            <a:ext cx="3940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9168" y="3529012"/>
            <a:ext cx="2726531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 Organization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0B2545"/>
                </a:solidFill>
                <a:latin typeface="Lato"/>
              </a:rPr>
              <a:t>Foküszy (Fokuszy.in)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4731" y="3776662"/>
            <a:ext cx="3940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0556" y="3900487"/>
            <a:ext cx="3055143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 Role Held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0B2545"/>
                </a:solidFill>
                <a:latin typeface="Lato"/>
              </a:rPr>
              <a:t>Social Media Manager Intern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4731" y="4148137"/>
            <a:ext cx="39409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793" y="4271962"/>
            <a:ext cx="3059906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Lato SemiBold"/>
              </a:rPr>
              <a:t> Duration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</a:t>
            </a:r>
            <a:r>
              <a:rPr b="1" sz="1200" i="0" u="none">
                <a:solidFill>
                  <a:srgbClr val="0B2545"/>
                </a:solidFill>
                <a:latin typeface="Lato"/>
              </a:rPr>
              <a:t>June 1, 2026 – July 5, 2026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731" y="2440781"/>
            <a:ext cx="109537" cy="11906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4731" y="2812256"/>
            <a:ext cx="138112" cy="11906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4731" y="3183731"/>
            <a:ext cx="157162" cy="11906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4731" y="3555206"/>
            <a:ext cx="90487" cy="11906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4731" y="3926681"/>
            <a:ext cx="128587" cy="11906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4731" y="4298156"/>
            <a:ext cx="109537" cy="1190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71675"/>
            <a:ext cx="5305425" cy="3714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9125" y="2470546"/>
            <a:ext cx="530542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Formal Certificate of Completion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issued by Foküszy leadership validating executive responsibilities and project milestones achieved during the tenure.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47875"/>
            <a:ext cx="5153025" cy="3562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2975" y="3027759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Designation: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Social Media Manager Intern reporting directly to General Management and HR.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3623071"/>
            <a:ext cx="4981575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Tenure: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June 1, 2026 – July 5, 2026 across high-velocity social campaigns.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3996928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Key Endorsement: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Commended for demonstrating strong marketing acumen, campaign planning, and audience growth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4592240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Authorized Signatories: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Certified by Kashish Panday (HR) and Manish Bhatt (General Manager).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051571"/>
            <a:ext cx="1809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646884"/>
            <a:ext cx="1809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020740"/>
            <a:ext cx="1809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616053"/>
            <a:ext cx="1809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Certificate of Internship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383631"/>
            <a:ext cx="5305425" cy="2890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83631"/>
            <a:ext cx="5305425" cy="28908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3059906"/>
            <a:ext cx="499062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34074"/>
                </a:solidFill>
                <a:latin typeface="Poppins"/>
              </a:rPr>
              <a:t>About Foküszy (Fokuszy.in)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440906"/>
            <a:ext cx="475297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Foküszy operates as a digital-first lifestyle and consumer solutions brand prioritizing seamless customer touchpoints and innovative product positioning in contemporary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219575"/>
            <a:ext cx="475297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The company relies on agile digital marketing stacks, hyper-targeted social engagement, and data-backed creative testing to scale brand recall among millennial and Gen-Z demographics across India.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3675" y="3059906"/>
            <a:ext cx="499062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34074"/>
                </a:solidFill>
                <a:latin typeface="Poppins"/>
              </a:rPr>
              <a:t>Internship Scope &amp;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440906"/>
            <a:ext cx="475297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Tasked with end-to-end management of official brand distribution channels, content calendars, conversion copywriting, and multi-format storytelling across major social networks.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4219575"/>
            <a:ext cx="475297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Mandate focused on turning dormant social channels into active organic conversion funnels, improving click-through ratios, and establishing brand voice guidelines for sustained post-internship continuity.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697956"/>
            <a:ext cx="31432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697956"/>
            <a:ext cx="2476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Executive Summary &amp; Host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37234"/>
            <a:ext cx="2581275" cy="23836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2637234"/>
            <a:ext cx="2581275" cy="23836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2637234"/>
            <a:ext cx="2581275" cy="23836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1600" y="2637234"/>
            <a:ext cx="2581275" cy="23836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875359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484959"/>
            <a:ext cx="229028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2545"/>
                </a:solidFill>
                <a:latin typeface="Poppins"/>
              </a:rPr>
              <a:t>Content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818334"/>
            <a:ext cx="2181225" cy="964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475569"/>
                </a:solidFill>
                <a:latin typeface="Lato"/>
              </a:rPr>
              <a:t>Engineered comprehensive 30-day cross-platform content blueprints, balancing educational reels, carousel infographics, and high-converting product showcases.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975" y="2875359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09975" y="3484959"/>
            <a:ext cx="229028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2545"/>
                </a:solidFill>
                <a:latin typeface="Poppins"/>
              </a:rPr>
              <a:t>Copy &amp; Brand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9975" y="3818334"/>
            <a:ext cx="2181225" cy="964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475569"/>
                </a:solidFill>
                <a:latin typeface="Lato"/>
              </a:rPr>
              <a:t>Crafted persuasive copywriting tailored for distinct consumer cohorts, improving organic CTA conversions and preserving consistent tone of voice.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875359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3484959"/>
            <a:ext cx="229028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2545"/>
                </a:solidFill>
                <a:latin typeface="Poppins"/>
              </a:rPr>
              <a:t>Analytics &amp; Auditing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18334"/>
            <a:ext cx="21812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475569"/>
                </a:solidFill>
                <a:latin typeface="Lato"/>
              </a:rPr>
              <a:t>Monitored daily profile traffic, impression curves, and post resonance scores using analytics dashboards to refine scheduling algorithms.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1625" y="2875359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91625" y="3484959"/>
            <a:ext cx="229028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B2545"/>
                </a:solidFill>
                <a:latin typeface="Poppins"/>
              </a:rPr>
              <a:t>Community Nurturing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1625" y="3818334"/>
            <a:ext cx="2181225" cy="964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475569"/>
                </a:solidFill>
                <a:latin typeface="Lato"/>
              </a:rPr>
              <a:t>Spearheaded community interactions, reducing inbound query turnaround to under 20 minutes and nurturing qualified leads directly in direct messages.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2970609"/>
            <a:ext cx="24765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5225" y="2970609"/>
            <a:ext cx="28575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6050" y="2970609"/>
            <a:ext cx="285750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8775" y="2970609"/>
            <a:ext cx="3619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Key Roles &amp; Core Responsibilities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23875"/>
            <a:ext cx="5600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Strategic Content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171575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773709"/>
            <a:ext cx="5334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334155"/>
                </a:solidFill>
                <a:latin typeface="Lato"/>
              </a:rPr>
              <a:t>During the five-week tenure, marketing operations pivoted toward a structured "Value-Proof-Offer" content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98490"/>
            <a:ext cx="533400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334155"/>
                </a:solidFill>
                <a:latin typeface="Lato"/>
              </a:rPr>
              <a:t>Instead of sporadic promo announcements, 60% of brand publishing was anchored on pain-point education, 25% on authentic customer validation, and 15% on direct sales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259460"/>
            <a:ext cx="53340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334155"/>
                </a:solidFill>
                <a:latin typeface="Lato"/>
              </a:rPr>
              <a:t>This holistic funnel ensured sustained organic visibility, algorithm prioritization, and improved audience retention across campaigns.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800350"/>
            <a:ext cx="5305425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150" y="3171825"/>
            <a:ext cx="490537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875"/>
              </a:lnSpc>
            </a:pPr>
            <a:r>
              <a:rPr b="0" sz="7875" i="0" u="none">
                <a:solidFill>
                  <a:srgbClr val="0B2545"/>
                </a:solidFill>
                <a:latin typeface="Poppins ExtraBold"/>
              </a:rPr>
              <a:t>+148</a:t>
            </a:r>
            <a:r>
              <a:rPr b="0" sz="7875" i="0" u="none">
                <a:solidFill>
                  <a:srgbClr val="C59B27"/>
                </a:solidFill>
                <a:latin typeface="Poppins ExtraBold"/>
              </a:rPr>
              <a:t>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4267200"/>
            <a:ext cx="49053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134074"/>
                </a:solidFill>
                <a:latin typeface="Lato"/>
              </a:rPr>
              <a:t>ORGANIC ENGAGEMENT 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1300" y="2638425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Substantial Audience Scale: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Total profile impressions surged across Instagram and LinkedIn during the 5-week sprint.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233737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Quality Follower Acquisition: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Generated over 3,200 net-new organic followers without paid boost budgets.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829050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Inbound Referral Traffic: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Delivered a 38% increase in bio link-clicks directing prospective consumers to Fokuszy.in.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4424362"/>
            <a:ext cx="4981575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Sustained Retention: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Saved-post rate climbed by 42%, signifying highly actionable content value.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62237"/>
            <a:ext cx="2000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257550"/>
            <a:ext cx="2000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852862"/>
            <a:ext cx="2000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4448175"/>
            <a:ext cx="2000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Quantifiable Growth &amp; 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651521"/>
            <a:ext cx="10953750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276350"/>
            <a:ext cx="10953750" cy="5105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Channel Performance Benchmarking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4067175"/>
            <a:ext cx="2519362" cy="1052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488" y="2705100"/>
            <a:ext cx="2519362" cy="885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851" y="4067175"/>
            <a:ext cx="2519362" cy="885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3214" y="2300287"/>
            <a:ext cx="2519362" cy="12906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9125" y="3810000"/>
            <a:ext cx="109537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158" y="4200525"/>
            <a:ext cx="236529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2545"/>
                </a:solidFill>
                <a:latin typeface="Poppins"/>
              </a:rPr>
              <a:t>Week 1: Audit &amp;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486275"/>
            <a:ext cx="2252662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Lato"/>
              </a:rPr>
              <a:t>Internal brand audit, competitor benchmark analysis, and content calendar blueprinting.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7521" y="2838450"/>
            <a:ext cx="236529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2545"/>
                </a:solidFill>
                <a:latin typeface="Poppins"/>
              </a:rPr>
              <a:t>Week 2-3: Creative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3838" y="3124200"/>
            <a:ext cx="225266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Lato"/>
              </a:rPr>
              <a:t>Rollout of short-form reels, product carousels, and hashtag testing matrix.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885" y="4200525"/>
            <a:ext cx="236529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2545"/>
                </a:solidFill>
                <a:latin typeface="Poppins"/>
              </a:rPr>
              <a:t>Week 4: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5201" y="4486275"/>
            <a:ext cx="225266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Lato"/>
              </a:rPr>
              <a:t>A/B testing of thumbnail hooks, publishing times, and active DM engagement funnels.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0248" y="2433637"/>
            <a:ext cx="236529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2545"/>
                </a:solidFill>
                <a:latin typeface="Poppins"/>
              </a:rPr>
              <a:t>Week 5: Reporting &amp;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6564" y="2957512"/>
            <a:ext cx="2252662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475569"/>
                </a:solidFill>
                <a:latin typeface="Lato"/>
              </a:rPr>
              <a:t>Compiling analytics benchmarks, final executive reporting, and SOP handoff documentation.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Weekly Project Roadmap &amp;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74031" y="3724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5394" y="3724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96757" y="3724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08121" y="3724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34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2651075"/>
            <a:ext cx="10953750" cy="2355949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9125" y="2651075"/>
          <a:ext cx="10953747" cy="2355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15864"/>
                <a:gridCol w="1955750"/>
                <a:gridCol w="2155328"/>
                <a:gridCol w="2189559"/>
                <a:gridCol w="2737246"/>
              </a:tblGrid>
              <a:tr h="471189"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Content Pillar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Target Audience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Format Deployed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Key Metric Tracked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Business Outcome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71189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475569"/>
                          </a:solidFill>
                          <a:latin typeface="Lato"/>
                        </a:rPr>
                        <a:t>Product Spotlight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First-time Buyers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Reels &amp; 3D Carousels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Save &amp; Share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18% Higher Add-to-Cart Intent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189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475569"/>
                          </a:solidFill>
                          <a:latin typeface="Lato"/>
                        </a:rPr>
                        <a:t>User Stories &amp; Proof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Considering Cohort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Testimonial Snaps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Profile Visits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4.2x Social Proof 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1189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475569"/>
                          </a:solidFill>
                          <a:latin typeface="Lato"/>
                        </a:rPr>
                        <a:t>Industry Insights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B2B &amp; Partners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LinkedIn Text-Carousels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Comment Discussions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25+ Inbound Inquiries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1193">
                <a:tc>
                  <a:txBody>
                    <a:bodyPr/>
                    <a:lstStyle/>
                    <a:p>
                      <a:pPr algn="l"/>
                      <a:r>
                        <a:rPr b="1" sz="1087" i="0" u="none">
                          <a:solidFill>
                            <a:srgbClr val="475569"/>
                          </a:solidFill>
                          <a:latin typeface="Lato"/>
                        </a:rPr>
                        <a:t>Interactive Stories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Existing Followers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Polls, AMAs &amp; Quizzes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Sticker Taps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87" i="0" u="none">
                          <a:solidFill>
                            <a:srgbClr val="475569"/>
                          </a:solidFill>
                          <a:latin typeface="Lato"/>
                        </a:rPr>
                        <a:t>Strengthened Algorithm Affinity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19125" y="310797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34989" y="310797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90739" y="3107977"/>
            <a:ext cx="2155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6068" y="3107977"/>
            <a:ext cx="21895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5628" y="3107977"/>
            <a:ext cx="2737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" y="357916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4989" y="357916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0739" y="3579167"/>
            <a:ext cx="2155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46068" y="3579167"/>
            <a:ext cx="21895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35628" y="3579167"/>
            <a:ext cx="2737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125" y="405035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34989" y="405035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0739" y="4050357"/>
            <a:ext cx="2155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46068" y="4050357"/>
            <a:ext cx="21895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35628" y="4050357"/>
            <a:ext cx="2737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" y="452154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34989" y="452154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0739" y="4521547"/>
            <a:ext cx="2155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46068" y="4521547"/>
            <a:ext cx="21895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35628" y="4521547"/>
            <a:ext cx="2737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125" y="499273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4989" y="4992737"/>
            <a:ext cx="1955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0739" y="4992737"/>
            <a:ext cx="21553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46068" y="4992737"/>
            <a:ext cx="21895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35628" y="4992737"/>
            <a:ext cx="2737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Campaign Matrix &amp; Methodology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2975" y="2859881"/>
            <a:ext cx="106299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Application of IILM Curriculum: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Transferred core classroom management frameworks (4Ps of Marketing, Consumer Behavior, Brand Equity) directly into dynamic corporate campaigns.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2975" y="3455193"/>
            <a:ext cx="106299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Data-Driven Decision Making: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Replaced intuitive guesswork with split-testing, impression-to-conversion analytics, and metric-based budget allocations.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75" y="3829050"/>
            <a:ext cx="1062990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Agile Project Management: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Mastered sprint coordination, cross-functional collaboration with graphic designers, and tight turnaround deliverables under leadership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" y="4424362"/>
            <a:ext cx="10629900" cy="22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1" sz="1125" i="0" u="none">
                <a:solidFill>
                  <a:srgbClr val="0B2545"/>
                </a:solidFill>
                <a:latin typeface="Lato"/>
              </a:rPr>
              <a:t>Crisis Communication &amp; Reputation: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Developed standardized response protocols for customer complaints, protecting brand sentiment in public feedback threads.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883693"/>
            <a:ext cx="2286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479006"/>
            <a:ext cx="2000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852862"/>
            <a:ext cx="1619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448175"/>
            <a:ext cx="1809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Academic Learnings &amp; Competencies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276350"/>
            <a:ext cx="10953750" cy="5105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1656" y="2280939"/>
            <a:ext cx="8548687" cy="1767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b="0" sz="2400" i="0" u="none">
                <a:solidFill>
                  <a:srgbClr val="0B2545"/>
                </a:solidFill>
                <a:latin typeface="Poppins Medium"/>
              </a:rPr>
              <a:t>Akshit demonstrated a strong understanding of social media marketing principles and made valuable contributions to our content strategy and online presence.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0937" y="4286547"/>
            <a:ext cx="4810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64748B"/>
                </a:solidFill>
                <a:latin typeface="Lato"/>
              </a:rPr>
              <a:t>— Manish Bhatt, General Manager &amp; Kashish Panday, HR (Foküszy)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7781" y="2519064"/>
            <a:ext cx="2571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6375" i="0" u="none">
                <a:solidFill>
                  <a:srgbClr val="CBD5E1"/>
                </a:solidFill>
                <a:latin typeface="Poppins Medium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043" y="4000792"/>
            <a:ext cx="2571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6375" i="0" u="none">
                <a:solidFill>
                  <a:srgbClr val="CBD5E1"/>
                </a:solidFill>
                <a:latin typeface="Poppins Medium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Executive Endorsement &amp; Reflection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737" y="2793801"/>
            <a:ext cx="4962525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281" y="476250"/>
            <a:ext cx="11501437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0B2545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1476375"/>
            <a:ext cx="6191250" cy="84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b="0" sz="1425" i="0" u="none">
                <a:solidFill>
                  <a:srgbClr val="475569"/>
                </a:solidFill>
                <a:latin typeface="Lato"/>
              </a:rPr>
              <a:t>Thank you to the esteemed faculty committee at IILM University and my industry mentors at Foküszy for their invaluable guidance throughout this tenure.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962" y="2974776"/>
            <a:ext cx="142875" cy="161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0187" y="2974776"/>
            <a:ext cx="20002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9437" y="2974776"/>
            <a:ext cx="1238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590776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14500" y="3495228"/>
            <a:ext cx="985837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https://www.smarttech.com/-/media/project/smart/www/business/home/interactive-smart-board-collaboration-office.jpg?h=720&amp;iar=0&amp;w=1280&amp;rev=57c56574b91246b88cab1c3cea210677&amp;hash=C6917A4CEF4C65114C99104340116256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926532"/>
            <a:ext cx="985837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www.smarttech.com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476250"/>
            <a:ext cx="1150143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B2545"/>
                </a:solidFill>
                <a:latin typeface="Poppins"/>
              </a:rPr>
              <a:t>Image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125" y="1123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